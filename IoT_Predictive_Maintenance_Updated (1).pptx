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12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B8A6"/>
                </a:solidFill>
              </a:rPr>
              <a:t>CAI4702 — IoT &amp; AI Integration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</a:rPr>
              <a:t>Industrial IoT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4B8A6"/>
                </a:solidFill>
              </a:rPr>
              <a:t>Predictive Maintenance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0AEC0"/>
                </a:solidFill>
              </a:rPr>
              <a:t>Machine Fault Detection using Random Forest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971800"/>
            <a:ext cx="41148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</a:rPr>
              <a:t>Dataset: </a:t>
            </a:r>
            <a:r>
              <a:rPr lang="en-US" sz="1300" dirty="0">
                <a:solidFill>
                  <a:srgbClr val="A0AEC0"/>
                </a:solidFill>
              </a:rPr>
              <a:t>AI4I 2020 — 10,000 IoT Readings  |  </a:t>
            </a:r>
            <a:r>
              <a:rPr lang="en-US" sz="1300" b="1" dirty="0">
                <a:solidFill>
                  <a:srgbClr val="14B8A6"/>
                </a:solidFill>
              </a:rPr>
              <a:t>Model: </a:t>
            </a:r>
            <a:r>
              <a:rPr lang="en-US" sz="1300" dirty="0">
                <a:solidFill>
                  <a:srgbClr val="A0AEC0"/>
                </a:solidFill>
              </a:rPr>
              <a:t>Random Forest + SMOTE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566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</a:rPr>
              <a:t>Accuracy: </a:t>
            </a:r>
            <a:r>
              <a:rPr lang="en-US" sz="1300" dirty="0">
                <a:solidFill>
                  <a:srgbClr val="A0AEC0"/>
                </a:solidFill>
              </a:rPr>
              <a:t>95.86%   |   </a:t>
            </a:r>
            <a:r>
              <a:rPr lang="en-US" sz="1300" b="1" dirty="0">
                <a:solidFill>
                  <a:srgbClr val="14B8A6"/>
                </a:solidFill>
              </a:rPr>
              <a:t>Fault Recall: </a:t>
            </a:r>
            <a:r>
              <a:rPr lang="en-US" sz="1300" dirty="0">
                <a:solidFill>
                  <a:srgbClr val="A0AEC0"/>
                </a:solidFill>
              </a:rPr>
              <a:t>89%   |   </a:t>
            </a:r>
            <a:r>
              <a:rPr lang="en-US" sz="1300" b="1" dirty="0">
                <a:solidFill>
                  <a:srgbClr val="14B8A6"/>
                </a:solidFill>
              </a:rPr>
              <a:t>Missed Faults: </a:t>
            </a:r>
            <a:r>
              <a:rPr lang="en-US" sz="1300" dirty="0">
                <a:solidFill>
                  <a:srgbClr val="A0AEC0"/>
                </a:solidFill>
              </a:rPr>
              <a:t>6 out of 53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580"/>
                </a:solidFill>
              </a:rPr>
              <a:t>Arab Academy for Science and Technology and Maritime Transport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— AI4I 2020 Predictive Maintenance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50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10,000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Sensor Readings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822960"/>
            <a:ext cx="19202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50592" y="850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50592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Features Used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822960"/>
            <a:ext cx="19202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26864" y="850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3.4%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26864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Fault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822960"/>
            <a:ext cx="19202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03136" y="850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UCI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03136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 Source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Sensor Features: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31720"/>
          <a:ext cx="5029200" cy="2368296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Air Temperature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Sensor input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Process Temperature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Sensor input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Rotational Speed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RPM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Sensor input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Torque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Nm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Sensor input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Tool Wear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min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Sensor input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</a:rPr>
                        <a:t>Machine Failure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</a:rPr>
                        <a:t>0 / 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TARGET ← predict this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57784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Class Balance: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331720"/>
            <a:ext cx="3383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Analysis — Outlier Detection &amp; Distributions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Boxplots — Before Outlier Removal: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97280"/>
            <a:ext cx="877824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999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Feature Distributions — After Outlier Removal (9,535 rows):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337560"/>
            <a:ext cx="87782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Correlation Heatmap — Sensor Relationships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5720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4920" y="822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Key Observations: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74920" y="1261872"/>
            <a:ext cx="3749040" cy="56692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66360" y="130759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🔥  Air &amp; Process Temp highly correlated (0.88)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74920" y="1920240"/>
            <a:ext cx="3749040" cy="56692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66360" y="196596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⚡  Torque &amp; RPM strongly negative (-0.89)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74920" y="2578608"/>
            <a:ext cx="3749040" cy="56692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166360" y="262432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⚠️  Torque has highest link to failure (+0.22)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74920" y="3236976"/>
            <a:ext cx="3749040" cy="56692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166360" y="328269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📉  Rotational speed negative link (-0.17)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74920" y="3895344"/>
            <a:ext cx="3749040" cy="56692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166360" y="394106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🛠️  Tool wear also related to failure (+0.12)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691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94360" cy="16916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990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9326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Encode Type Column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5331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L / M / H  →  0 / 1 /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ML models need numbers not text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691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594360" cy="1691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3990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9326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Create Power Feature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35331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Power = Torque × RPM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Combines 2 sensors into 1 meaningful signal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114800" cy="1691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594360" cy="1691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31927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8529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StandardScaler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27355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All features scaled to same range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Prevents large values dominating the model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743200"/>
            <a:ext cx="4114800" cy="1691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743200"/>
            <a:ext cx="594360" cy="1691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331927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28529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Train / Test Split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327355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80% Training (7,628)  |  20% Testing (1,907)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stratify=True keeps same fault ratio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Feature Correlation with Machine Failure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530352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8229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Interpretation: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89320" y="1261872"/>
            <a:ext cx="2880360" cy="594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89320" y="1261872"/>
            <a:ext cx="91440" cy="5943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26480" y="12984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Torque (0.217) — strongest positive signal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1956816"/>
            <a:ext cx="2880360" cy="594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89320" y="1956816"/>
            <a:ext cx="91440" cy="5943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26480" y="19933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Power (0.202) — engineered feature works!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2651760"/>
            <a:ext cx="2880360" cy="594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989320" y="2651760"/>
            <a:ext cx="91440" cy="5943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26480" y="268833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Tool Wear (0.120) — wear time matters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3346704"/>
            <a:ext cx="2880360" cy="594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89320" y="3346704"/>
            <a:ext cx="91440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26480" y="3383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Air Temperature (0.090) — moderate link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89320" y="4041648"/>
            <a:ext cx="2880360" cy="594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989320" y="4041648"/>
            <a:ext cx="91440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26480" y="40782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Rotational Speed (-0.169) — inverse link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Model — Random Forest + SMOTE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2103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931920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955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Problem: Class Imbalance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Before SMOTE: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Normal: 7,418   |   Fault: 210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After SMOTE: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Normal: 7,418   |   Fault: 7,418  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777240"/>
            <a:ext cx="4434840" cy="2103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777240"/>
            <a:ext cx="443484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7955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Random Forest?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▸  100 decision trees (n_estimators=100)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6093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▸  Max depth=10 to prevent overfitting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19568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▸  Works well with imbalanced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3042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▸  Gives feature importance scores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8595360" cy="475488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04495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1B2A"/>
                </a:solidFill>
              </a:rPr>
              <a:t>Flow:  Raw Data → Clean → SMOTE → Train RF → Predict → Evaluate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639312"/>
            <a:ext cx="1965960" cy="1234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67588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9,535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74320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 Rows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50592" y="3639312"/>
            <a:ext cx="1965960" cy="1234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50592" y="367588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7,628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450592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Train (80%)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26864" y="3639312"/>
            <a:ext cx="1965960" cy="1234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26864" y="367588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1,907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626864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Test (20%)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03136" y="3639312"/>
            <a:ext cx="1965960" cy="1234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03136" y="367588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14,836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803136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After SMOTE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Evaluation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11680" cy="1143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95.86%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14264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777240"/>
            <a:ext cx="2011680" cy="11430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80467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89%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23160" y="14264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Fault Recall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777240"/>
            <a:ext cx="2011680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80467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4264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Missed Faults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777240"/>
            <a:ext cx="2011680" cy="1143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12280" y="80467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12280" y="14264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Caught Faults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057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Confusion Matrix:</a:t>
            </a:r>
            <a:endParaRPr lang="en-US" sz="13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395728"/>
            <a:ext cx="3840480" cy="2606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3891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Feature Importance:</a:t>
            </a:r>
            <a:endParaRPr lang="en-US" sz="13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395728"/>
            <a:ext cx="457200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7830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94360" cy="178308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44475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🔧  Tool Wear = #1 Predictor (0.239)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44168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The longer a tool runs without replacement, the higher the failure risk. Factories should schedule maintenance based on tool wear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7830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594360" cy="1783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44475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914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⚡  Rotational Speed = #2 (0.221)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344168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Abnormal RPM is a strong fault signal. Negative correlation means unusual speed drops are dangerous.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17830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594360" cy="1783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4564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9260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💪  Torque &amp; Power (0.185 / 0.166)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55848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High torque combined with low speed = machine overload. The engineered Power feature proved very useful.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114800" cy="17830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834640"/>
            <a:ext cx="594360" cy="1783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34564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29260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🌡️  Class Imbalance Challenge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3355848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Only 3.4% of data was Fault. Without SMOTE the model would ignore faults completely. SMOTE balanced classes to 50/50.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Real-World Application in Factories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737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94360" cy="1737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990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📡  Continuous Monitoring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44168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IoT sensors collect temperature, torque, RPM, and tool wear every second from machines on the factory floor.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737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594360" cy="1737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3990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94960" y="914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🚨  Early Warning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344168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When model predicts Fault, an alert is sent immediately to the maintenance team BEFORE the machine breaks down.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114800" cy="1737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594360" cy="17373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36499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0120" y="28803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💰  Cost Savings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310128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Unplanned downtime costs thousands per hour. Predictive maintenance reduces downtime by up to 50%.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4114800" cy="1737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788920"/>
            <a:ext cx="594360" cy="1737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336499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394960" y="28803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📅  Smart Scheduling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3310128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Instead of fixed maintenance schedules, machines are serviced ONLY when sensors indicate it is needed.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636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Result: 95.86% Accuracy  |  89% Fault Recall  |  Only 6 faults missed out of 53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Project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B8A6"/>
                </a:solidFill>
              </a:rPr>
              <a:t>Industrial IoT — Predictive Maintenance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✅  Loaded and explored 10,000 real IoT sensor readings from UCI repository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0078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✅  Cleaned data: removed 465 outliers using IQR method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3969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✅  Created Power feature (Torque × RPM) — improved model 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✅  Handled imbalance with SMOTE: balanced 210 faults to 7,418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✅  Trained Random Forest: 95.86% accuracy on unseen test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✅  Fault Recall = 89% — model catches most real faults early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9534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✅  Tool Wear is the #1 predictor — key signal for maintenance scheduling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4462272"/>
            <a:ext cx="841248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45537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Thank you  |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784</Words>
  <Application>Microsoft Office PowerPoint</Application>
  <PresentationFormat>On-screen Show (16:9)</PresentationFormat>
  <Paragraphs>153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yossif abdallah</cp:lastModifiedBy>
  <cp:revision>2</cp:revision>
  <dcterms:created xsi:type="dcterms:W3CDTF">2026-05-02T13:06:20Z</dcterms:created>
  <dcterms:modified xsi:type="dcterms:W3CDTF">2026-05-02T13:43:20Z</dcterms:modified>
</cp:coreProperties>
</file>